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537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2372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7FB2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Verilog HDL project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11400"/>
            <a:ext cx="10883392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4F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4-Bit RISC CPU with a 3-Stage Pipeline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1910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Design, implementation and verification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7853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smtClean="0">
                <a:solidFill>
                  <a:srgbClr val="9FB0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Pham Chi </a:t>
            </a:r>
            <a:r>
              <a:rPr lang="en-US" sz="1400" dirty="0" err="1" smtClean="0">
                <a:solidFill>
                  <a:srgbClr val="9FB0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Thien</a:t>
            </a:r>
            <a:r>
              <a:rPr lang="en-US" sz="1400" dirty="0" smtClean="0">
                <a:solidFill>
                  <a:srgbClr val="9FB0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– HE200499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specifications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3380264" cy="1471930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Datapath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880" y="2250440"/>
            <a:ext cx="295450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4-bit registers, ALU and data memory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5"/>
            <a:ext cx="3380343" cy="1471930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1694" y="2250440"/>
            <a:ext cx="29545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general-purpose, R0 to R3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5"/>
            <a:ext cx="3380343" cy="1471930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51587" y="2250440"/>
            <a:ext cx="29545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bits: opcode, Rd, Rs, 4-bit immediate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5975" y="3355975"/>
            <a:ext cx="3380264" cy="1471930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1880" y="3611880"/>
            <a:ext cx="29545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1880" y="3931920"/>
            <a:ext cx="295450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Harvard: 16 x 12-bit program, 16 x 4-bit data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05789" y="3355975"/>
            <a:ext cx="3380343" cy="1471930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1694" y="3611880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1694" y="3931920"/>
            <a:ext cx="29545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Hardwired decoder and branch unit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95682" y="3355975"/>
            <a:ext cx="3380343" cy="1471930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1587" y="3611880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51587" y="3931920"/>
            <a:ext cx="29545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and Carry (no-borrow on SUB)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Datapath blocks by stage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5"/>
            <a:ext cx="3380264" cy="2289810"/>
          </a:xfrm>
          <a:prstGeom prst="roundRect">
            <a:avLst>
              <a:gd name="adj" fmla="val 4298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854200"/>
            <a:ext cx="300683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3188" y="2260600"/>
            <a:ext cx="2922503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PC and PC + 1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PC MUX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Instruction memory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IF/ID register (IR)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789" y="1623695"/>
            <a:ext cx="3380343" cy="2289810"/>
          </a:xfrm>
          <a:prstGeom prst="roundRect">
            <a:avLst>
              <a:gd name="adj" fmla="val 4298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294" y="1854200"/>
            <a:ext cx="30069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56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13002" y="2260600"/>
            <a:ext cx="29225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 unit (decoder)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ID/EX pipeline register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682" y="1623695"/>
            <a:ext cx="3380343" cy="2289810"/>
          </a:xfrm>
          <a:prstGeom prst="roundRect">
            <a:avLst>
              <a:gd name="adj" fmla="val 4298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187" y="1854200"/>
            <a:ext cx="30069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7D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02895" y="2260600"/>
            <a:ext cx="2922585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Register file, operand MUX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ALU and flag register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memory, write-back MUX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Branch unit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2214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branch unit sends pc_sel and flush back to IF when a jump is taken.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stages, one instruction per clock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3380264" cy="1830070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IF: fetch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1880" y="2341880"/>
            <a:ext cx="2954507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PC addresses instruction memory; the instruction is loaded into the IR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5"/>
            <a:ext cx="3380343" cy="1830070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456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ID: decode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61694" y="2341880"/>
            <a:ext cx="295458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Hardwired decoder turns the opcode into control signals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5"/>
            <a:ext cx="3380343" cy="1830070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F7D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EX: execute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51587" y="2341880"/>
            <a:ext cx="295458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Register read, ALU, data memory and write-back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800" y="3863341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 instructions take N + 2 clocks. A taken jump flushes 2 instructions.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instructions in 6 clocks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019300"/>
            <a:ext cx="685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717800"/>
            <a:ext cx="685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416300"/>
            <a:ext cx="685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114800"/>
            <a:ext cx="685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9050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2B6C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5400" y="19050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C456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06800" y="19050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5400" y="26035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2B6C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06800" y="26035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C456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8200" y="26035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6800" y="33020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2B6C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8200" y="33020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C456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89600" y="33020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48200" y="40005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2B6C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89600" y="40005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C456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31000" y="40005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91500" y="1905000"/>
            <a:ext cx="32702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Clocks 1 to 6 run left to right. From clock 3, one instruction finishes every clock.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91500" y="3175000"/>
            <a:ext cx="32702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456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Without a pipeline the same 4 instructions need 12 clocks.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 hazards without stalls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497330"/>
          </a:xfrm>
          <a:prstGeom prst="roundRect">
            <a:avLst>
              <a:gd name="adj" fmla="val 65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880" y="2311400"/>
            <a:ext cx="2954507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Separate instruction and data memories (Harvard)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1497330"/>
          </a:xfrm>
          <a:prstGeom prst="roundRect">
            <a:avLst>
              <a:gd name="adj" fmla="val 65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56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1694" y="2311400"/>
            <a:ext cx="295458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Registers are read in EX, one clock after the previous write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1497330"/>
          </a:xfrm>
          <a:prstGeom prst="roundRect">
            <a:avLst>
              <a:gd name="adj" fmla="val 65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7D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1587" y="2311400"/>
            <a:ext cx="295458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Jump decided in EX; the 2 wrong instructions are flushed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instructions, one 12-bit format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1075690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854200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Arithmetic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480" y="2148839"/>
            <a:ext cx="485566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ADD, SUB (Zero and Carry)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6"/>
            <a:ext cx="5175250" cy="1075690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1280" y="1854200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31280" y="2148839"/>
            <a:ext cx="485566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AND, OR, XOR, NOT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5975" y="2908936"/>
            <a:ext cx="5175250" cy="1075690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6480" y="3139439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6480" y="3434082"/>
            <a:ext cx="485566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LDI, MOV, LOAD, STORE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00775" y="2908936"/>
            <a:ext cx="5175250" cy="1075690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1280" y="3139439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31280" y="3434082"/>
            <a:ext cx="485566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JMP, JZ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800" y="42926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Bits 11-8 opcode, 7-6 Rd, 5-4 Rs, 3-0 imm or address. Example: ADD R1, R2 = 0x060.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a 12-bit instruction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21"/>
            <a:ext cx="3344307" cy="866140"/>
          </a:xfrm>
          <a:prstGeom prst="roundRect">
            <a:avLst>
              <a:gd name="adj" fmla="val 8798"/>
            </a:avLst>
          </a:prstGeom>
          <a:solidFill>
            <a:srgbClr val="FDE8D8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1722121"/>
            <a:ext cx="31306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200" y="2034539"/>
            <a:ext cx="313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bits 11-8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33307" y="1569721"/>
            <a:ext cx="1824593" cy="866140"/>
          </a:xfrm>
          <a:prstGeom prst="roundRect">
            <a:avLst>
              <a:gd name="adj" fmla="val 8798"/>
            </a:avLst>
          </a:prstGeom>
          <a:solidFill>
            <a:srgbClr val="DBE8F8"/>
          </a:solidFill>
          <a:ln/>
        </p:spPr>
      </p:sp>
      <p:sp>
        <p:nvSpPr>
          <p:cNvPr id="7" name="Text 5"/>
          <p:cNvSpPr/>
          <p:nvPr/>
        </p:nvSpPr>
        <p:spPr>
          <a:xfrm>
            <a:off x="4385707" y="1722121"/>
            <a:ext cx="157059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5707" y="2034539"/>
            <a:ext cx="15705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bits 7-6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34100" y="1569721"/>
            <a:ext cx="1824593" cy="866140"/>
          </a:xfrm>
          <a:prstGeom prst="roundRect">
            <a:avLst>
              <a:gd name="adj" fmla="val 8798"/>
            </a:avLst>
          </a:prstGeom>
          <a:solidFill>
            <a:srgbClr val="DCF1E4"/>
          </a:solidFill>
          <a:ln/>
        </p:spPr>
      </p:sp>
      <p:sp>
        <p:nvSpPr>
          <p:cNvPr id="10" name="Text 8"/>
          <p:cNvSpPr/>
          <p:nvPr/>
        </p:nvSpPr>
        <p:spPr>
          <a:xfrm>
            <a:off x="6286500" y="1722121"/>
            <a:ext cx="157059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86500" y="2034539"/>
            <a:ext cx="15705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bits 5-4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34893" y="1569721"/>
            <a:ext cx="3344307" cy="866140"/>
          </a:xfrm>
          <a:prstGeom prst="roundRect">
            <a:avLst>
              <a:gd name="adj" fmla="val 8798"/>
            </a:avLst>
          </a:prstGeom>
          <a:solidFill>
            <a:srgbClr val="E8E0F5"/>
          </a:solidFill>
          <a:ln/>
        </p:spPr>
      </p:sp>
      <p:sp>
        <p:nvSpPr>
          <p:cNvPr id="13" name="Text 11"/>
          <p:cNvSpPr/>
          <p:nvPr/>
        </p:nvSpPr>
        <p:spPr>
          <a:xfrm>
            <a:off x="8187293" y="1722121"/>
            <a:ext cx="31306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imm / addr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87293" y="2034539"/>
            <a:ext cx="313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bits 3-0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2693036"/>
            <a:ext cx="10560050" cy="610870"/>
          </a:xfrm>
          <a:prstGeom prst="roundRect">
            <a:avLst>
              <a:gd name="adj" fmla="val 11954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6480" y="2847339"/>
            <a:ext cx="23545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R1, R2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86480" y="2847339"/>
            <a:ext cx="3575971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63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0000 01 10 0000 = 0x060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5975" y="3411857"/>
            <a:ext cx="10560050" cy="610870"/>
          </a:xfrm>
          <a:prstGeom prst="roundRect">
            <a:avLst>
              <a:gd name="adj" fmla="val 11954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6480" y="3566161"/>
            <a:ext cx="23545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LDI R3, 1010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586480" y="3566161"/>
            <a:ext cx="3575971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63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0110 11 00 1010 = 0x6CA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15975" y="4130675"/>
            <a:ext cx="10560050" cy="610870"/>
          </a:xfrm>
          <a:prstGeom prst="roundRect">
            <a:avLst>
              <a:gd name="adj" fmla="val 11954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480" y="4284979"/>
            <a:ext cx="23545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JZ 9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86480" y="4284979"/>
            <a:ext cx="3575971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63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1011 00 00 1001 = 0xB09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 unit: decoder and branch unit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2056130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79600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56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Decoder (ID stage)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8588" y="2286000"/>
            <a:ext cx="4719015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Combinational, with safe "do nothing" defaults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Reserved opcodes 1100-1111 act as NOP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LDI sets alu_src_sel, LOAD sets wb_sel, STORE sets mem_we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6"/>
            <a:ext cx="5175250" cy="2056130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879600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7D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Branch unit (EX stage)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3388" y="2286000"/>
            <a:ext cx="4719015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 jump: pc_sel = 0, flush = 0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JMP: pc_sel = 1, flush = 1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JZ with Zero = 1: pc_sel = 1, flush = 1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JZ with Zero = 0: no loss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ALU flags and the carry convention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443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ADD: Carry = 1 when the sum does not fit in 4 bits. SUB: Carry = 1 means no borrow (A &gt;= B), as on ARM.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060575"/>
            <a:ext cx="10560050" cy="542290"/>
          </a:xfrm>
          <a:prstGeom prst="roundRect">
            <a:avLst>
              <a:gd name="adj" fmla="val 1346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189479"/>
            <a:ext cx="1447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+ 3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21280" y="2189479"/>
            <a:ext cx="367274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1000, Zero 0, Carry 0: fits in 4 bits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5975" y="2698117"/>
            <a:ext cx="10560050" cy="542290"/>
          </a:xfrm>
          <a:prstGeom prst="roundRect">
            <a:avLst>
              <a:gd name="adj" fmla="val 1346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1080" y="2827021"/>
            <a:ext cx="1447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+ 1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21280" y="2827021"/>
            <a:ext cx="336108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0000, Zero 1, Carry 1: overflow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3335654"/>
            <a:ext cx="10560050" cy="542290"/>
          </a:xfrm>
          <a:prstGeom prst="roundRect">
            <a:avLst>
              <a:gd name="adj" fmla="val 1346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080" y="3464564"/>
            <a:ext cx="1447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5 - 3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21280" y="3464564"/>
            <a:ext cx="353739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0010, Zero 0, Carry 1: no borrow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5975" y="3973196"/>
            <a:ext cx="10560050" cy="542290"/>
          </a:xfrm>
          <a:prstGeom prst="roundRect">
            <a:avLst>
              <a:gd name="adj" fmla="val 1346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1080" y="4102100"/>
            <a:ext cx="1447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3 - 5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21280" y="4102100"/>
            <a:ext cx="31622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1110, Zero 0, Carry 0: borrow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5975" y="4610739"/>
            <a:ext cx="10560050" cy="542290"/>
          </a:xfrm>
          <a:prstGeom prst="roundRect">
            <a:avLst>
              <a:gd name="adj" fmla="val 1346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080" y="4739642"/>
            <a:ext cx="1447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7 - 7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21280" y="4739642"/>
            <a:ext cx="414718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0000, Zero 1, Carry 1: zero, no borrow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Verification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10883392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00"/>
              </a:lnSpc>
              <a:buNone/>
            </a:pPr>
            <a:r>
              <a:rPr lang="en-US" sz="10000" b="1" dirty="0">
                <a:solidFill>
                  <a:srgbClr val="7FB2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88 / 88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12800" y="3322321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self-checking tests passed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982721"/>
            <a:ext cx="2489200" cy="1150620"/>
          </a:xfrm>
          <a:prstGeom prst="roundRect">
            <a:avLst>
              <a:gd name="adj" fmla="val 8830"/>
            </a:avLst>
          </a:prstGeom>
          <a:solidFill>
            <a:srgbClr val="1F355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185921"/>
            <a:ext cx="21452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16000" y="4663442"/>
            <a:ext cx="21452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05200" y="3982721"/>
            <a:ext cx="2489200" cy="1150620"/>
          </a:xfrm>
          <a:prstGeom prst="roundRect">
            <a:avLst>
              <a:gd name="adj" fmla="val 8830"/>
            </a:avLst>
          </a:prstGeom>
          <a:solidFill>
            <a:srgbClr val="1F3556"/>
          </a:solidFill>
          <a:ln/>
        </p:spPr>
      </p:sp>
      <p:sp>
        <p:nvSpPr>
          <p:cNvPr id="9" name="Text 7"/>
          <p:cNvSpPr/>
          <p:nvPr/>
        </p:nvSpPr>
        <p:spPr>
          <a:xfrm>
            <a:off x="3708400" y="4185921"/>
            <a:ext cx="21452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8400" y="4663442"/>
            <a:ext cx="21452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Register file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7600" y="3982721"/>
            <a:ext cx="2489200" cy="1150620"/>
          </a:xfrm>
          <a:prstGeom prst="roundRect">
            <a:avLst>
              <a:gd name="adj" fmla="val 8830"/>
            </a:avLst>
          </a:prstGeom>
          <a:solidFill>
            <a:srgbClr val="1F355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4185921"/>
            <a:ext cx="21452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4663442"/>
            <a:ext cx="21452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 unit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90000" y="3982721"/>
            <a:ext cx="2489200" cy="1150620"/>
          </a:xfrm>
          <a:prstGeom prst="roundRect">
            <a:avLst>
              <a:gd name="adj" fmla="val 8830"/>
            </a:avLst>
          </a:prstGeom>
          <a:solidFill>
            <a:srgbClr val="1F3556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4185921"/>
            <a:ext cx="21452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93200" y="4663442"/>
            <a:ext cx="21452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CPU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5438142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1.4x to 1.7x fewer clocks than the earlier 2-cycle design on the test programs.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Limitations and extensions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54710" y="1671321"/>
            <a:ext cx="1083386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2090" indent="-21209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Taken jump costs 2 clocks: decide JMP in ID or add branch prediction</a:t>
            </a:r>
            <a:endParaRPr lang="en-US" sz="2000" dirty="0"/>
          </a:p>
          <a:p>
            <a:pPr marL="212090" indent="-21209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instructions and 16 data words: wider PC, register-indirect LOAD</a:t>
            </a:r>
            <a:endParaRPr lang="en-US" sz="2000" dirty="0"/>
          </a:p>
          <a:p>
            <a:pPr marL="212090" indent="-21209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conditional jump: use reserved opcodes for JC, JNZ, HALT</a:t>
            </a:r>
            <a:endParaRPr lang="en-US" sz="2000" dirty="0"/>
          </a:p>
          <a:p>
            <a:pPr marL="212090" indent="-21209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426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V or N flags, no subroutines: add CALL and RET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-Bit RISC CPU with a 3-Stage Pipeline">
  <a:themeElements>
    <a:clrScheme name="4-Bit RISC CPU with a 3-Stage Pipeline">
      <a:dk1>
        <a:srgbClr val="14263F"/>
      </a:dk1>
      <a:lt1>
        <a:srgbClr val="F4F5F7"/>
      </a:lt1>
      <a:dk2>
        <a:srgbClr val="4C5A6D"/>
      </a:dk2>
      <a:lt2>
        <a:srgbClr val="DEE0E5"/>
      </a:lt2>
      <a:accent1>
        <a:srgbClr val="2B6CB0"/>
      </a:accent1>
      <a:accent2>
        <a:srgbClr val="C4561A"/>
      </a:accent2>
      <a:accent3>
        <a:srgbClr val="2F7D4F"/>
      </a:accent3>
      <a:accent4>
        <a:srgbClr val="7FB2F0"/>
      </a:accent4>
      <a:accent5>
        <a:srgbClr val="9FB0C6"/>
      </a:accent5>
      <a:accent6>
        <a:srgbClr val="C9D3E0"/>
      </a:accent6>
      <a:hlink>
        <a:srgbClr val="0563C1"/>
      </a:hlink>
      <a:folHlink>
        <a:srgbClr val="954F72"/>
      </a:folHlink>
    </a:clrScheme>
    <a:fontScheme name="4-Bit RISC CPU with a 3-Stage Pipeline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Widescreen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Helvetica</vt:lpstr>
      <vt:lpstr>4-Bit RISC CPU with a 3-Stage Pipeline</vt:lpstr>
      <vt:lpstr>4-Bit RISC CPU with a 3-Stage Pipeline</vt:lpstr>
      <vt:lpstr>Key specifications</vt:lpstr>
      <vt:lpstr>Datapath blocks by stage</vt:lpstr>
      <vt:lpstr>Three stages, one instruction per clock</vt:lpstr>
      <vt:lpstr>4 instructions in 6 clocks</vt:lpstr>
      <vt:lpstr>Pipeline hazards without stalls</vt:lpstr>
      <vt:lpstr>12 instructions, one 12-bit format</vt:lpstr>
      <vt:lpstr>Reading a 12-bit instruction</vt:lpstr>
      <vt:lpstr>Control unit: decoder and branch unit</vt:lpstr>
      <vt:lpstr>ALU flags and the carry convention</vt:lpstr>
      <vt:lpstr>Verification results</vt:lpstr>
      <vt:lpstr>Limitations and extensions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4-Bit RISC CPU with a 3-Stage Pipeline</dc:title>
  <dc:subject/>
  <dc:creator/>
  <cp:lastModifiedBy>Admin</cp:lastModifiedBy>
  <cp:revision>2</cp:revision>
  <dcterms:created xsi:type="dcterms:W3CDTF">2026-10-09T06:09:05Z</dcterms:created>
  <dcterms:modified xsi:type="dcterms:W3CDTF">2026-10-09T06:10:45Z</dcterms:modified>
</cp:coreProperties>
</file>